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 1: Hook. 'Imagine you drive for Grab. Yesterday you earned $400. Today, $90. Your rent doesn't care. Nobody smooths your income or sets aside your obligations — you don't have a payroll department.' Introduce Team Steady and OCBC Steady, the autonomous paycheck.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 1: Read the problem statement. Decode three words: AUTONOMOUS = the AI acts, not notifies. JOURNEYS = continuous value over months/years, not one onboarding moment. DIFFERENTIATION = something a customer says no other bank does for me. Hand over to Speaker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 2: 70,500 platform workers (3% of labour force), median ~S$2,500/month. Problem is LUMPY income vs fixed-cost life. Four pains: bad fortnight = missed rent; new CPF/tax admin under Platform Workers Act; savings need daily discipline; no payslip = invisible to credit and BTO financing.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 2: Timing. PWA in force Jan 2025; operator CPF doubled Jan 2026; worker share reaches 20% by 2029 — financial admin is now mandatory for 70k people with no tools. Meanwhile OCBC WoW (launched 1 Jul 2026) proves the agentic architecture exists — for S$1.5M+ clients. Steady points it at the other 99%. Hand over to Speaker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 3: One sentence: Steady converts volatile daily earnings into a stable weekly salary, autonomously handling CPF, tax, bills, buffers — like a payroll department. Loop: Observe (payout streams) -&gt; Decide (user's rules) -&gt; Act (moves money itself, below limits) -&gt; Explain (receipt + 24h undo). Budgeting apps tell you what to do; Steady has already done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 3: The ladder — deliberately boring: 1) Obligations first (CPF/MediSave/tax per payout). 2) Bills envelope pre-funded. 3) Steady Salary — fixed weekly payout so good and bad weeks feel the same. 4) 4-week buffer. 5) Surplus sweep — the one rung where Steady ALWAYS asks first. Deterministic, ordered, auditable. Tee up: 'what stops this going rogue?' Hand to Speaker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 4: The user writes the constitution. GREEN acts alone: below user's cap (e.g. S$400), only between the user's own OCBC accounts. AMBER asks first: above cap, salary changes, buffer draws, new products. RED never: money never leaves user's accounts, no investing, never judges spending. Receipt + 24h undo + monthly report. Autonomy is a dial the customer holds.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 4: Aisyah, 27, private-hire driver. Strong week: Steady silently sets aside CPF/tax, funds bills, tops buffer. Lean week: salary of S$620 still arrives, part-funded from buffer. Injury: Steady detects zero income, proposes a 3-week plan, pre-fills the work-injury claim — and ASKS before acting. Silent / reassuring / deferential.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 4: UI is calm by design: one number that matters (next salary), an activity feed of receipts with undo, and a rules screen the user owns. Hand to Speaker 5: 'can we actually build this?'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 5: Phase 1 = rails OCBC already owns: cash-only sweeps across OCBC 360 + pockets via open APIs; deterministic rules move money, LLM only writes explanations (no licensing exposure, no black box); pilot 500 drivers via NTUC associations, demonstrable in 6 months. Phase 2: platform payout APIs, CPF integration, SGFinDex. Phase 3: plug into WoW's 4-layer stack; Steady record = payslip-equivalent for home loans.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 5: Why OCBC wins: sticky deposits from a segment lost to digital challengers; trust (constitution + receipts) as a visible moat; strategy fit — extends the WoW architecture to a 70,500-strong, regulation-driven segment no SG bank serves agentically. Close: 'WoW changed the face of banking for those who have wealth. Steady changes it for those still building it. For now, and beyond — for everyone.'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2011680"/>
            <a:ext cx="5943600" cy="5943600"/>
          </a:xfrm>
          <a:prstGeom prst="ellipse">
            <a:avLst/>
          </a:prstGeom>
          <a:solidFill>
            <a:srgbClr val="E4002B"/>
          </a:solidFill>
          <a:ln/>
        </p:spPr>
      </p:sp>
      <p:sp>
        <p:nvSpPr>
          <p:cNvPr id="3" name="Shape 1"/>
          <p:cNvSpPr/>
          <p:nvPr/>
        </p:nvSpPr>
        <p:spPr>
          <a:xfrm>
            <a:off x="5852160" y="3566160"/>
            <a:ext cx="2011680" cy="2011680"/>
          </a:xfrm>
          <a:prstGeom prst="ellipse">
            <a:avLst/>
          </a:prstGeom>
          <a:solidFill>
            <a:srgbClr val="9E0016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685800"/>
            <a:ext cx="566928" cy="566928"/>
          </a:xfrm>
          <a:prstGeom prst="ellipse">
            <a:avLst/>
          </a:prstGeom>
          <a:solidFill>
            <a:srgbClr val="E4002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21" y="833201"/>
            <a:ext cx="272125" cy="272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41732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OCBC Steady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475488" y="2395728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3B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autonomous paycheck for Singapore's gig economy.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75488" y="324612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income is irregular. </a:t>
            </a:r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life isn't.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75488" y="44348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PolyFinTech100 API Hackathon 2026   ·   Intelligent Banking (OCBC)   ·   Team Steady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CEEF0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170432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“How can OCBC leverage </a:t>
            </a:r>
            <a:pPr indent="0" marL="0">
              <a:buNone/>
            </a:pPr>
            <a:r>
              <a:rPr lang="en-US" sz="1600" b="1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autonomous, decision-making AI</a:t>
            </a:r>
            <a:pPr indent="0" marL="0">
              <a:buNone/>
            </a:pPr>
            <a:r>
              <a:rPr lang="en-US" sz="1600" dirty="0">
                <a:solidFill>
                  <a:srgbClr val="2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across customer journeys to clearly differentiate itself and emerge as the market leader?”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F6F7F9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2606040"/>
            <a:ext cx="502920" cy="502920"/>
          </a:xfrm>
          <a:prstGeom prst="ellipse">
            <a:avLst/>
          </a:prstGeom>
          <a:solidFill>
            <a:srgbClr val="E4002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" y="2736799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200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5800" y="3529584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 that observes, decides and acts — not a chatbot that waits to be asked and not an alert you must action yourself.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91840" y="237744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F6F7F9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20440" y="260604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4002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456" y="2734056"/>
            <a:ext cx="246888" cy="2468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3200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journeys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520440" y="3529584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delivered continuously over months and years of a customer's life — not once at onboarding or in a campaign.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126480" y="237744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F6F7F9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355080" y="2606040"/>
            <a:ext cx="502920" cy="502920"/>
          </a:xfrm>
          <a:prstGeom prst="ellipse">
            <a:avLst/>
          </a:prstGeom>
          <a:solidFill>
            <a:srgbClr val="E4002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5839" y="273679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55080" y="3200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Differentiation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355080" y="3529584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 are commoditised. OCBC wins on how the bank behaves — doing something no other bank does for you.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45720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OCBC Steady  ·  PolyFinTech100 Hackathon 2026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832104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segment payroll forgot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and gig workers earn daily, spend monthly — and manage it all alone.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932688"/>
          </a:xfrm>
          <a:prstGeom prst="roundRect">
            <a:avLst>
              <a:gd name="adj" fmla="val 7843"/>
            </a:avLst>
          </a:prstGeom>
          <a:solidFill>
            <a:srgbClr val="F6F7F9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27048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70,500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40280" y="15087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workers in Singapore — 3% of the labour force (MOM)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496312"/>
            <a:ext cx="4023360" cy="932688"/>
          </a:xfrm>
          <a:prstGeom prst="roundRect">
            <a:avLst>
              <a:gd name="adj" fmla="val 7843"/>
            </a:avLst>
          </a:prstGeom>
          <a:solidFill>
            <a:srgbClr val="F6F7F9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6060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S$2,500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240280" y="2587752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gross monthly income; expenses arrive fixed, income doesn't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575304"/>
            <a:ext cx="4023360" cy="932688"/>
          </a:xfrm>
          <a:prstGeom prst="roundRect">
            <a:avLst>
              <a:gd name="adj" fmla="val 7843"/>
            </a:avLst>
          </a:prstGeom>
          <a:solidFill>
            <a:srgbClr val="F6F7F9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3685032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240280" y="3666744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CPF share by 2029 as the Platform Workers Act phases 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00600" y="141732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pains, one root cause: no payroll department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00600" y="1874520"/>
            <a:ext cx="402336" cy="402336"/>
          </a:xfrm>
          <a:prstGeom prst="ellipse">
            <a:avLst/>
          </a:prstGeom>
          <a:solidFill>
            <a:srgbClr val="E4002B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5207" y="1979127"/>
            <a:ext cx="193121" cy="193121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349240" y="1819656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Volatile income vs fixed bills — a bad fortnight becomes a missed rent payment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00600" y="2532888"/>
            <a:ext cx="402336" cy="402336"/>
          </a:xfrm>
          <a:prstGeom prst="ellipse">
            <a:avLst/>
          </a:prstGeom>
          <a:solidFill>
            <a:srgbClr val="E4002B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5207" y="2637495"/>
            <a:ext cx="193121" cy="193121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349240" y="2478024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CPF &amp; tax obligations to compute, set aside and pay — manually, monthly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800600" y="3191256"/>
            <a:ext cx="402336" cy="402336"/>
          </a:xfrm>
          <a:prstGeom prst="ellipse">
            <a:avLst/>
          </a:prstGeom>
          <a:solidFill>
            <a:srgbClr val="E4002B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5207" y="3295863"/>
            <a:ext cx="193121" cy="193121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349240" y="3136392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need daily discipline no salaried worker is ever asked to have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800600" y="3849624"/>
            <a:ext cx="402336" cy="402336"/>
          </a:xfrm>
          <a:prstGeom prst="ellipse">
            <a:avLst/>
          </a:prstGeom>
          <a:solidFill>
            <a:srgbClr val="E4002B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5207" y="3954231"/>
            <a:ext cx="193121" cy="19312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349240" y="379476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stable payslip → invisible to credit, loans and BTO financing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45720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OCBC Steady  ·  PolyFinTech100 Hackathon 2026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832104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 — regulation below, whitespace above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 Workers Act makes financial admin mandatory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2084832"/>
            <a:ext cx="7498080" cy="0"/>
          </a:xfrm>
          <a:prstGeom prst="line">
            <a:avLst/>
          </a:prstGeom>
          <a:noFill/>
          <a:ln w="19050">
            <a:solidFill>
              <a:srgbClr val="8A93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" y="2002536"/>
            <a:ext cx="164592" cy="164592"/>
          </a:xfrm>
          <a:prstGeom prst="ellipse">
            <a:avLst/>
          </a:prstGeom>
          <a:solidFill>
            <a:srgbClr val="E4002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72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2025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30428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in force: mandatory CPF for workers born ≥1995, work-injury cover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03904" y="2002536"/>
            <a:ext cx="164592" cy="164592"/>
          </a:xfrm>
          <a:prstGeom prst="ellipse">
            <a:avLst/>
          </a:prstGeom>
          <a:solidFill>
            <a:srgbClr val="E4002B"/>
          </a:solidFill>
          <a:ln/>
        </p:spPr>
      </p:sp>
      <p:sp>
        <p:nvSpPr>
          <p:cNvPr id="9" name="Text 7"/>
          <p:cNvSpPr/>
          <p:nvPr/>
        </p:nvSpPr>
        <p:spPr>
          <a:xfrm>
            <a:off x="3794760" y="1572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2026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94760" y="230428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CPF share doubles to 7%; worker offsets taper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67144" y="2002536"/>
            <a:ext cx="164592" cy="164592"/>
          </a:xfrm>
          <a:prstGeom prst="ellipse">
            <a:avLst/>
          </a:prstGeom>
          <a:solidFill>
            <a:srgbClr val="E4002B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0" y="1572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0" y="230428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alignment: up to 20% worker + 17% operator CPF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8229600" cy="1417320"/>
          </a:xfrm>
          <a:prstGeom prst="roundRect">
            <a:avLst>
              <a:gd name="adj" fmla="val 5161"/>
            </a:avLst>
          </a:prstGeom>
          <a:solidFill>
            <a:srgbClr val="1B1F24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520440"/>
            <a:ext cx="731520" cy="731520"/>
          </a:xfrm>
          <a:prstGeom prst="ellipse">
            <a:avLst/>
          </a:prstGeom>
          <a:solidFill>
            <a:srgbClr val="E4002B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435" y="3710635"/>
            <a:ext cx="351130" cy="35113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783080" y="3364992"/>
            <a:ext cx="667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OCBC WoW launched 1 July 2026 — an AI-native app for clients with S$1.5M+ AUM.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7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agentic architecture now exists. Steady points it at the other 99% — starting with the workers who drive WoW's customers home.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OCBC Steady  ·  PolyFinTech100 Hackathon 2026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32104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OCBC Steady: an agent, not an app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CEEF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Steady converts volatile daily earnings into a </a:t>
            </a:r>
            <a:pPr indent="0" marL="0">
              <a:buNone/>
            </a:pPr>
            <a:r>
              <a:rPr lang="en-US" sz="1450" b="1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weekly salary</a:t>
            </a:r>
            <a:pPr indent="0" marL="0">
              <a:buNone/>
            </a:pPr>
            <a:r>
              <a:rPr lang="en-US" sz="1450" dirty="0">
                <a:solidFill>
                  <a:srgbClr val="2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autonomously handling CPF, tax, bills and buffers the way a payroll department would.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1938528" cy="2286000"/>
          </a:xfrm>
          <a:prstGeom prst="roundRect">
            <a:avLst>
              <a:gd name="adj" fmla="val 3774"/>
            </a:avLst>
          </a:prstGeom>
          <a:solidFill>
            <a:srgbClr val="F6F7F9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76656" y="2395728"/>
            <a:ext cx="548640" cy="548640"/>
          </a:xfrm>
          <a:prstGeom prst="ellipse">
            <a:avLst/>
          </a:prstGeom>
          <a:solidFill>
            <a:srgbClr val="1B1F2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302" y="2538374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76656" y="3063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76656" y="3401568"/>
            <a:ext cx="15727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Streams earnings from Grab, foodpanda, TADA &amp; bank inflows in real time</a:t>
            </a:r>
            <a:endParaRPr lang="en-US" sz="1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4016" y="3127248"/>
            <a:ext cx="182880" cy="1828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615184" y="2148840"/>
            <a:ext cx="1938528" cy="2286000"/>
          </a:xfrm>
          <a:prstGeom prst="roundRect">
            <a:avLst>
              <a:gd name="adj" fmla="val 3774"/>
            </a:avLst>
          </a:prstGeom>
          <a:solidFill>
            <a:srgbClr val="F6F7F9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834640" y="2395728"/>
            <a:ext cx="548640" cy="548640"/>
          </a:xfrm>
          <a:prstGeom prst="ellipse">
            <a:avLst/>
          </a:prstGeom>
          <a:solidFill>
            <a:srgbClr val="1B1F24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7286" y="2538374"/>
            <a:ext cx="263347" cy="26334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834640" y="3063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2834640" y="3401568"/>
            <a:ext cx="15727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Allocates every dollar against the user's own rules — obligations first</a:t>
            </a:r>
            <a:endParaRPr lang="en-US" sz="10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127248"/>
            <a:ext cx="182880" cy="18288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773168" y="2148840"/>
            <a:ext cx="1938528" cy="2286000"/>
          </a:xfrm>
          <a:prstGeom prst="roundRect">
            <a:avLst>
              <a:gd name="adj" fmla="val 3774"/>
            </a:avLst>
          </a:prstGeom>
          <a:solidFill>
            <a:srgbClr val="F6F7F9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4992624" y="2395728"/>
            <a:ext cx="548640" cy="548640"/>
          </a:xfrm>
          <a:prstGeom prst="ellipse">
            <a:avLst/>
          </a:prstGeom>
          <a:solidFill>
            <a:srgbClr val="E4002B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5270" y="2538374"/>
            <a:ext cx="263347" cy="263347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992624" y="3063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4992624" y="3401568"/>
            <a:ext cx="15727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Moves money between OCBC pockets autonomously, below set limits</a:t>
            </a:r>
            <a:endParaRPr lang="en-US" sz="10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9984" y="3127248"/>
            <a:ext cx="182880" cy="18288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931152" y="2148840"/>
            <a:ext cx="1938528" cy="2286000"/>
          </a:xfrm>
          <a:prstGeom prst="roundRect">
            <a:avLst>
              <a:gd name="adj" fmla="val 3774"/>
            </a:avLst>
          </a:prstGeom>
          <a:solidFill>
            <a:srgbClr val="F6F7F9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7150608" y="2395728"/>
            <a:ext cx="548640" cy="548640"/>
          </a:xfrm>
          <a:prstGeom prst="ellipse">
            <a:avLst/>
          </a:prstGeom>
          <a:solidFill>
            <a:srgbClr val="1B1F24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93254" y="2538374"/>
            <a:ext cx="263347" cy="263347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150608" y="3063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</a:t>
            </a:r>
            <a:endParaRPr lang="en-US" sz="1500" dirty="0"/>
          </a:p>
        </p:txBody>
      </p:sp>
      <p:sp>
        <p:nvSpPr>
          <p:cNvPr id="27" name="Text 18"/>
          <p:cNvSpPr/>
          <p:nvPr/>
        </p:nvSpPr>
        <p:spPr>
          <a:xfrm>
            <a:off x="7150608" y="3401568"/>
            <a:ext cx="15727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action logged in plain language, reversible for 24 hours</a:t>
            </a:r>
            <a:endParaRPr lang="en-US" sz="1000" dirty="0"/>
          </a:p>
        </p:txBody>
      </p:sp>
      <p:sp>
        <p:nvSpPr>
          <p:cNvPr id="28" name="Text 19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Agentic, by the brief's own definition: it initiates actions — it doesn't surface reminders.</a:t>
            </a:r>
            <a:endParaRPr lang="en-US" sz="1100" dirty="0"/>
          </a:p>
        </p:txBody>
      </p:sp>
      <p:sp>
        <p:nvSpPr>
          <p:cNvPr id="29" name="Text 20"/>
          <p:cNvSpPr/>
          <p:nvPr/>
        </p:nvSpPr>
        <p:spPr>
          <a:xfrm>
            <a:off x="45720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OCBC Steady  ·  PolyFinTech100 Hackathon 2026</a:t>
            </a:r>
            <a:endParaRPr lang="en-US" sz="900" dirty="0"/>
          </a:p>
        </p:txBody>
      </p:sp>
      <p:sp>
        <p:nvSpPr>
          <p:cNvPr id="30" name="Text 21"/>
          <p:cNvSpPr/>
          <p:nvPr/>
        </p:nvSpPr>
        <p:spPr>
          <a:xfrm>
            <a:off x="832104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dollar earned climbs the same ladder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deterministic allocation ladder — the agent's decisions are bounded, ordered and auditable.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6F7F9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435608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143000" y="1463040"/>
            <a:ext cx="384048" cy="384048"/>
          </a:xfrm>
          <a:prstGeom prst="ellipse">
            <a:avLst/>
          </a:prstGeom>
          <a:solidFill>
            <a:srgbClr val="1B1F2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2852" y="1562892"/>
            <a:ext cx="184343" cy="18434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42646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Obligations first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3429000" y="1426464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CPF, MediSave &amp; income-tax set-asides computed per trip payout and locked away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452360" y="15270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9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57200" y="2029968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6F7F9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58368" y="2093976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1143000" y="2121408"/>
            <a:ext cx="384048" cy="384048"/>
          </a:xfrm>
          <a:prstGeom prst="ellipse">
            <a:avLst/>
          </a:prstGeom>
          <a:solidFill>
            <a:srgbClr val="1B1F24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852" y="2221260"/>
            <a:ext cx="184343" cy="18434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91640" y="20848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Bills envelope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3429000" y="208483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Rent, vehicle rental, insurance and utilities pre-funded before payday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7452360" y="21854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9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457200" y="2688336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6F7F9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58368" y="2752344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1143000" y="2779776"/>
            <a:ext cx="384048" cy="384048"/>
          </a:xfrm>
          <a:prstGeom prst="ellipse">
            <a:avLst/>
          </a:prstGeom>
          <a:solidFill>
            <a:srgbClr val="1B1F24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852" y="2879628"/>
            <a:ext cx="184343" cy="18434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691640" y="2743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Steady Salary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3429000" y="274320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fixed weekly 'salary' paid to the spending account — smoothing good and bad weeks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7452360" y="284378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9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457200" y="3346704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6F7F9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658368" y="3410712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Shape 22"/>
          <p:cNvSpPr/>
          <p:nvPr/>
        </p:nvSpPr>
        <p:spPr>
          <a:xfrm>
            <a:off x="1143000" y="3438144"/>
            <a:ext cx="384048" cy="384048"/>
          </a:xfrm>
          <a:prstGeom prst="ellipse">
            <a:avLst/>
          </a:prstGeom>
          <a:solidFill>
            <a:srgbClr val="1B1F24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2852" y="3537996"/>
            <a:ext cx="184343" cy="184343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691640" y="340156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Buffer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3429000" y="340156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Surplus builds a 4-week shock absorber that funds salary in lean weeks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7452360" y="35021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9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</a:t>
            </a:r>
            <a:endParaRPr lang="en-US" sz="800" dirty="0"/>
          </a:p>
        </p:txBody>
      </p:sp>
      <p:sp>
        <p:nvSpPr>
          <p:cNvPr id="32" name="Shape 26"/>
          <p:cNvSpPr/>
          <p:nvPr/>
        </p:nvSpPr>
        <p:spPr>
          <a:xfrm>
            <a:off x="457200" y="4005072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CEEF0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33" name="Text 27"/>
          <p:cNvSpPr/>
          <p:nvPr/>
        </p:nvSpPr>
        <p:spPr>
          <a:xfrm>
            <a:off x="658368" y="406908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34" name="Shape 28"/>
          <p:cNvSpPr/>
          <p:nvPr/>
        </p:nvSpPr>
        <p:spPr>
          <a:xfrm>
            <a:off x="1143000" y="4096512"/>
            <a:ext cx="384048" cy="384048"/>
          </a:xfrm>
          <a:prstGeom prst="ellipse">
            <a:avLst/>
          </a:prstGeom>
          <a:solidFill>
            <a:srgbClr val="1B1F24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2852" y="4196364"/>
            <a:ext cx="184343" cy="184343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691640" y="405993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Surplus sweep</a:t>
            </a:r>
            <a:endParaRPr lang="en-US" sz="1250" dirty="0"/>
          </a:p>
        </p:txBody>
      </p:sp>
      <p:sp>
        <p:nvSpPr>
          <p:cNvPr id="37" name="Text 30"/>
          <p:cNvSpPr/>
          <p:nvPr/>
        </p:nvSpPr>
        <p:spPr>
          <a:xfrm>
            <a:off x="3429000" y="4059936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Above-buffer cash moved to goals or higher-yield OCBC products</a:t>
            </a:r>
            <a:endParaRPr lang="en-US" sz="950" dirty="0"/>
          </a:p>
        </p:txBody>
      </p:sp>
      <p:sp>
        <p:nvSpPr>
          <p:cNvPr id="38" name="Text 31"/>
          <p:cNvSpPr/>
          <p:nvPr/>
        </p:nvSpPr>
        <p:spPr>
          <a:xfrm>
            <a:off x="7452360" y="4160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77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ASKS FIRST</a:t>
            </a:r>
            <a:endParaRPr lang="en-US" sz="800" dirty="0"/>
          </a:p>
        </p:txBody>
      </p:sp>
      <p:sp>
        <p:nvSpPr>
          <p:cNvPr id="39" name="Text 32"/>
          <p:cNvSpPr/>
          <p:nvPr/>
        </p:nvSpPr>
        <p:spPr>
          <a:xfrm>
            <a:off x="45720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OCBC Steady  ·  PolyFinTech100 Hackathon 2026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832104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Constitution: humans stay in control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write the rules once. The agent's autonomy is a dial, not a switch.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6F7F9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72768"/>
            <a:ext cx="457200" cy="457200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691640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60934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Acts alone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2176272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Set-asides &amp; sweeps below user's per-move cap (e.g. S$400)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 the user's own OCBC accounts only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 payments already authorised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91840" y="137160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6F7F9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20440" y="1572768"/>
            <a:ext cx="457200" cy="457200"/>
          </a:xfrm>
          <a:prstGeom prst="ellipse">
            <a:avLst/>
          </a:prstGeom>
          <a:solidFill>
            <a:srgbClr val="C7780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312" y="1691640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14800" y="160934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Asks first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20440" y="2176272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move above the cap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Changing the Steady Salary amount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Drawing the buffer below 2 weeks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products, yield or credit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126480" y="137160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6F7F9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55080" y="1572768"/>
            <a:ext cx="457200" cy="457200"/>
          </a:xfrm>
          <a:prstGeom prst="ellipse">
            <a:avLst/>
          </a:prstGeom>
          <a:solidFill>
            <a:srgbClr val="E4002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1691640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49440" y="160934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touches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355080" y="2176272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leaving the user's own accounts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Investments or trading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user's spending — Steady manages flow, never judges purchases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57200" y="393192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1B1F24"/>
          </a:solidFill>
          <a:ln/>
        </p:spPr>
      </p:sp>
      <p:sp>
        <p:nvSpPr>
          <p:cNvPr id="20" name="Shape 15"/>
          <p:cNvSpPr/>
          <p:nvPr/>
        </p:nvSpPr>
        <p:spPr>
          <a:xfrm>
            <a:off x="685800" y="4059936"/>
            <a:ext cx="402336" cy="402336"/>
          </a:xfrm>
          <a:prstGeom prst="ellipse">
            <a:avLst/>
          </a:prstGeom>
          <a:solidFill>
            <a:srgbClr val="E4002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407" y="4164543"/>
            <a:ext cx="193121" cy="19312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34440" y="398678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action: plain-language receipt, 24-hour undo, and a monthly 'what I did &amp; why' report. Trust is a feature, not a disclaimer.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5720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OCBC Steady  ·  PolyFinTech100 Hackathon 2026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832104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week with Steady: Aisyah, 27, private-hire driver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6F7F9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371600"/>
            <a:ext cx="502920" cy="502920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" y="1502359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42646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9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MON–WED · STRONG WEEK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205740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Earns S$412/day. Steady sets aside CPF + tax per payout, funds bills, tops the buffer to 3.4 weeks. Aisyah does nothing.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40080" y="3429000"/>
            <a:ext cx="22860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758952" y="3493008"/>
            <a:ext cx="20665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Receipt: “Moved S$96 to your CPF set-aside — Friday's contribution is fully covered.”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291840" y="114300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6F7F9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20440" y="1371600"/>
            <a:ext cx="502920" cy="502920"/>
          </a:xfrm>
          <a:prstGeom prst="ellipse">
            <a:avLst/>
          </a:prstGeom>
          <a:solidFill>
            <a:srgbClr val="C7780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199" y="150235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60520" y="142646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77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THU–FRI · QUIET WEEK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3520440" y="205740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 drop 40%. Her Steady Salary of S$620 still arrives Friday, part-funded from buffer. Rent is never at risk.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474720" y="3429000"/>
            <a:ext cx="22860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</p:spPr>
      </p:sp>
      <p:sp>
        <p:nvSpPr>
          <p:cNvPr id="16" name="Text 12"/>
          <p:cNvSpPr/>
          <p:nvPr/>
        </p:nvSpPr>
        <p:spPr>
          <a:xfrm>
            <a:off x="3593592" y="3493008"/>
            <a:ext cx="20665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Receipt: “Lean week — I drew S$180 from your buffer. You're still 2.9 weeks covered.”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6126480" y="114300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6F7F9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355080" y="1371600"/>
            <a:ext cx="502920" cy="502920"/>
          </a:xfrm>
          <a:prstGeom prst="ellipse">
            <a:avLst/>
          </a:prstGeom>
          <a:solidFill>
            <a:srgbClr val="E4002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5839" y="1502359"/>
            <a:ext cx="241402" cy="24140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995160" y="142646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 · INJURY — ESCALATION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6355080" y="205740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Aisyah can't drive. Steady detects zero income + a claim window, proposes a 3-week plan, pre-fills her work-injury claim — and asks before acting.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309360" y="3429000"/>
            <a:ext cx="22860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</p:spPr>
      </p:sp>
      <p:sp>
        <p:nvSpPr>
          <p:cNvPr id="23" name="Text 18"/>
          <p:cNvSpPr/>
          <p:nvPr/>
        </p:nvSpPr>
        <p:spPr>
          <a:xfrm>
            <a:off x="6428232" y="3493008"/>
            <a:ext cx="20665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“Approve plan? Pause surplus sweeps, hold salary at S$620, file injury claim.”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agent, three postures: silent in good weeks, reassuring in lean ones, deferential in a crisis.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45720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OCBC Steady  ·  PolyFinTech100 Hackathon 2026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832104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Low-fi UI: calm by design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2286000" cy="352044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25400">
            <a:solidFill>
              <a:srgbClr val="2B313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49808" y="1161288"/>
            <a:ext cx="2066544" cy="384048"/>
          </a:xfrm>
          <a:prstGeom prst="roundRect">
            <a:avLst>
              <a:gd name="adj" fmla="val 14286"/>
            </a:avLst>
          </a:prstGeom>
          <a:solidFill>
            <a:srgbClr val="E4002B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1612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Steady · Home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1248" y="16916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Steady Salary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41248" y="19019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S$620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41248" y="235915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9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arrives Friday · fully funded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22960" y="2697480"/>
            <a:ext cx="1920240" cy="457200"/>
          </a:xfrm>
          <a:prstGeom prst="roundRect">
            <a:avLst>
              <a:gd name="adj" fmla="val 10000"/>
            </a:avLst>
          </a:prstGeom>
          <a:solidFill>
            <a:srgbClr val="F6F7F9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2697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737360" y="2697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9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 weeks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22960" y="3264408"/>
            <a:ext cx="1920240" cy="457200"/>
          </a:xfrm>
          <a:prstGeom prst="roundRect">
            <a:avLst>
              <a:gd name="adj" fmla="val 10000"/>
            </a:avLst>
          </a:prstGeom>
          <a:solidFill>
            <a:srgbClr val="F6F7F9"/>
          </a:solidFill>
          <a:ln/>
        </p:spPr>
      </p:sp>
      <p:sp>
        <p:nvSpPr>
          <p:cNvPr id="13" name="Text 11"/>
          <p:cNvSpPr/>
          <p:nvPr/>
        </p:nvSpPr>
        <p:spPr>
          <a:xfrm>
            <a:off x="932688" y="32644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CPF set-aside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737360" y="326440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9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track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22960" y="3831336"/>
            <a:ext cx="1920240" cy="457200"/>
          </a:xfrm>
          <a:prstGeom prst="roundRect">
            <a:avLst>
              <a:gd name="adj" fmla="val 10000"/>
            </a:avLst>
          </a:prstGeom>
          <a:solidFill>
            <a:srgbClr val="F6F7F9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383133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Bills envelope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737360" y="383133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9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funded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29000" y="1051560"/>
            <a:ext cx="2286000" cy="352044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25400">
            <a:solidFill>
              <a:srgbClr val="2B313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538728" y="1161288"/>
            <a:ext cx="2066544" cy="384048"/>
          </a:xfrm>
          <a:prstGeom prst="roundRect">
            <a:avLst>
              <a:gd name="adj" fmla="val 14286"/>
            </a:avLst>
          </a:prstGeom>
          <a:solidFill>
            <a:srgbClr val="E4002B"/>
          </a:solidFill>
          <a:ln/>
        </p:spPr>
      </p:sp>
      <p:sp>
        <p:nvSpPr>
          <p:cNvPr id="20" name="Text 18"/>
          <p:cNvSpPr/>
          <p:nvPr/>
        </p:nvSpPr>
        <p:spPr>
          <a:xfrm>
            <a:off x="3630168" y="11612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Steady · Activity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11880" y="1700784"/>
            <a:ext cx="1920240" cy="585216"/>
          </a:xfrm>
          <a:prstGeom prst="roundRect">
            <a:avLst>
              <a:gd name="adj" fmla="val 7813"/>
            </a:avLst>
          </a:prstGeom>
          <a:solidFill>
            <a:srgbClr val="F6F7F9"/>
          </a:solidFill>
          <a:ln/>
        </p:spPr>
      </p:sp>
      <p:sp>
        <p:nvSpPr>
          <p:cNvPr id="22" name="Text 20"/>
          <p:cNvSpPr/>
          <p:nvPr/>
        </p:nvSpPr>
        <p:spPr>
          <a:xfrm>
            <a:off x="3712464" y="17556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Moved S$96 → CPF set-aside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712464" y="2011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· undo 23h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611880" y="2395728"/>
            <a:ext cx="1920240" cy="585216"/>
          </a:xfrm>
          <a:prstGeom prst="roundRect">
            <a:avLst>
              <a:gd name="adj" fmla="val 7813"/>
            </a:avLst>
          </a:prstGeom>
          <a:solidFill>
            <a:srgbClr val="F6F7F9"/>
          </a:solidFill>
          <a:ln/>
        </p:spPr>
      </p:sp>
      <p:sp>
        <p:nvSpPr>
          <p:cNvPr id="25" name="Text 23"/>
          <p:cNvSpPr/>
          <p:nvPr/>
        </p:nvSpPr>
        <p:spPr>
          <a:xfrm>
            <a:off x="3712464" y="24505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vehicle rental S$210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712464" y="270662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· receipt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611880" y="3090672"/>
            <a:ext cx="1920240" cy="585216"/>
          </a:xfrm>
          <a:prstGeom prst="roundRect">
            <a:avLst>
              <a:gd name="adj" fmla="val 7813"/>
            </a:avLst>
          </a:prstGeom>
          <a:solidFill>
            <a:srgbClr val="F6F7F9"/>
          </a:solidFill>
          <a:ln/>
        </p:spPr>
      </p:sp>
      <p:sp>
        <p:nvSpPr>
          <p:cNvPr id="28" name="Text 26"/>
          <p:cNvSpPr/>
          <p:nvPr/>
        </p:nvSpPr>
        <p:spPr>
          <a:xfrm>
            <a:off x="3712464" y="314553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Drew S$180 from buffer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712464" y="340156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week · explained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611880" y="3785616"/>
            <a:ext cx="1920240" cy="585216"/>
          </a:xfrm>
          <a:prstGeom prst="roundRect">
            <a:avLst>
              <a:gd name="adj" fmla="val 7813"/>
            </a:avLst>
          </a:prstGeom>
          <a:solidFill>
            <a:srgbClr val="FCEEF0"/>
          </a:solidFill>
          <a:ln/>
        </p:spPr>
      </p:sp>
      <p:sp>
        <p:nvSpPr>
          <p:cNvPr id="31" name="Text 29"/>
          <p:cNvSpPr/>
          <p:nvPr/>
        </p:nvSpPr>
        <p:spPr>
          <a:xfrm>
            <a:off x="3712464" y="38404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Sweep S$300 to goal?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712464" y="409651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awaiting your OK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217920" y="1051560"/>
            <a:ext cx="2286000" cy="352044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25400">
            <a:solidFill>
              <a:srgbClr val="2B313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327648" y="1161288"/>
            <a:ext cx="2066544" cy="384048"/>
          </a:xfrm>
          <a:prstGeom prst="roundRect">
            <a:avLst>
              <a:gd name="adj" fmla="val 14286"/>
            </a:avLst>
          </a:prstGeom>
          <a:solidFill>
            <a:srgbClr val="E4002B"/>
          </a:solidFill>
          <a:ln/>
        </p:spPr>
      </p:sp>
      <p:sp>
        <p:nvSpPr>
          <p:cNvPr id="35" name="Text 33"/>
          <p:cNvSpPr/>
          <p:nvPr/>
        </p:nvSpPr>
        <p:spPr>
          <a:xfrm>
            <a:off x="6419088" y="11612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Steady · My Rules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00800" y="1700784"/>
            <a:ext cx="1920240" cy="585216"/>
          </a:xfrm>
          <a:prstGeom prst="roundRect">
            <a:avLst>
              <a:gd name="adj" fmla="val 7813"/>
            </a:avLst>
          </a:prstGeom>
          <a:solidFill>
            <a:srgbClr val="F6F7F9"/>
          </a:solidFill>
          <a:ln/>
        </p:spPr>
      </p:sp>
      <p:sp>
        <p:nvSpPr>
          <p:cNvPr id="37" name="Text 35"/>
          <p:cNvSpPr/>
          <p:nvPr/>
        </p:nvSpPr>
        <p:spPr>
          <a:xfrm>
            <a:off x="6510528" y="1700784"/>
            <a:ext cx="1188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salary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315200" y="1700784"/>
            <a:ext cx="914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S$620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400800" y="2395728"/>
            <a:ext cx="1920240" cy="585216"/>
          </a:xfrm>
          <a:prstGeom prst="roundRect">
            <a:avLst>
              <a:gd name="adj" fmla="val 7813"/>
            </a:avLst>
          </a:prstGeom>
          <a:solidFill>
            <a:srgbClr val="F6F7F9"/>
          </a:solidFill>
          <a:ln/>
        </p:spPr>
      </p:sp>
      <p:sp>
        <p:nvSpPr>
          <p:cNvPr id="40" name="Text 38"/>
          <p:cNvSpPr/>
          <p:nvPr/>
        </p:nvSpPr>
        <p:spPr>
          <a:xfrm>
            <a:off x="6510528" y="2395728"/>
            <a:ext cx="1188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Per-move cap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315200" y="2395728"/>
            <a:ext cx="914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S$400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00800" y="3090672"/>
            <a:ext cx="1920240" cy="585216"/>
          </a:xfrm>
          <a:prstGeom prst="roundRect">
            <a:avLst>
              <a:gd name="adj" fmla="val 7813"/>
            </a:avLst>
          </a:prstGeom>
          <a:solidFill>
            <a:srgbClr val="F6F7F9"/>
          </a:solidFill>
          <a:ln/>
        </p:spPr>
      </p:sp>
      <p:sp>
        <p:nvSpPr>
          <p:cNvPr id="43" name="Text 41"/>
          <p:cNvSpPr/>
          <p:nvPr/>
        </p:nvSpPr>
        <p:spPr>
          <a:xfrm>
            <a:off x="6510528" y="3090672"/>
            <a:ext cx="1188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Buffer floor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315200" y="3090672"/>
            <a:ext cx="914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weeks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400800" y="3785616"/>
            <a:ext cx="1920240" cy="585216"/>
          </a:xfrm>
          <a:prstGeom prst="roundRect">
            <a:avLst>
              <a:gd name="adj" fmla="val 7813"/>
            </a:avLst>
          </a:prstGeom>
          <a:solidFill>
            <a:srgbClr val="F6F7F9"/>
          </a:solidFill>
          <a:ln/>
        </p:spPr>
      </p:sp>
      <p:sp>
        <p:nvSpPr>
          <p:cNvPr id="46" name="Text 44"/>
          <p:cNvSpPr/>
          <p:nvPr/>
        </p:nvSpPr>
        <p:spPr>
          <a:xfrm>
            <a:off x="6510528" y="3785616"/>
            <a:ext cx="1188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315200" y="3785616"/>
            <a:ext cx="914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number that matters, receipts for every action, and rules the user owns.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Implementation: built on rails OCBC already owns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3063240"/>
          </a:xfrm>
          <a:prstGeom prst="roundRect">
            <a:avLst>
              <a:gd name="adj" fmla="val 2759"/>
            </a:avLst>
          </a:prstGeom>
          <a:solidFill>
            <a:srgbClr val="FCEEF0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298448"/>
            <a:ext cx="457200" cy="457200"/>
          </a:xfrm>
          <a:prstGeom prst="ellipse">
            <a:avLst/>
          </a:prstGeom>
          <a:solidFill>
            <a:srgbClr val="E4002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17320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61872" y="129844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· Hackathon → 6 months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85800" y="1920240"/>
            <a:ext cx="2286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Cash-only sweeps across OCBC 360 + savings pockets via OCBC Open APIs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ladder + LLM only for explanations — no licensing exposure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 read from platform payout deposits; pilot with 500 NTUC-linked drivers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291840" y="1097280"/>
            <a:ext cx="2651760" cy="3063240"/>
          </a:xfrm>
          <a:prstGeom prst="roundRect">
            <a:avLst>
              <a:gd name="adj" fmla="val 2759"/>
            </a:avLst>
          </a:prstGeom>
          <a:solidFill>
            <a:srgbClr val="F6F7F9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520440" y="1298448"/>
            <a:ext cx="457200" cy="457200"/>
          </a:xfrm>
          <a:prstGeom prst="ellipse">
            <a:avLst/>
          </a:prstGeom>
          <a:solidFill>
            <a:srgbClr val="1B1F2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312" y="1417320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096512" y="129844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· 6–18 months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520440" y="1920240"/>
            <a:ext cx="2286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payout APIs with Grab / foodpanda; CPF PayNow integration for set-asides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SGFinDex for full income picture across banks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Steady income record → micro credit line to backstop the buffer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126480" y="1097280"/>
            <a:ext cx="2651760" cy="3063240"/>
          </a:xfrm>
          <a:prstGeom prst="roundRect">
            <a:avLst>
              <a:gd name="adj" fmla="val 2759"/>
            </a:avLst>
          </a:prstGeom>
          <a:solidFill>
            <a:srgbClr val="F6F7F9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355080" y="1298448"/>
            <a:ext cx="457200" cy="457200"/>
          </a:xfrm>
          <a:prstGeom prst="ellipse">
            <a:avLst/>
          </a:prstGeom>
          <a:solidFill>
            <a:srgbClr val="1B1F2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1417320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31152" y="129844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· 18 months+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6355080" y="1920240"/>
            <a:ext cx="2286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 WoW's 4-layer AI-native stack: ingestion → guardrails → agents → output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Steady record accepted as 'payslip' for OCBC home loans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to freelancers, hawkers, commission earners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457200" y="43159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Feasible because it's boring where it counts: rule-based money movement, existing products, the user's own accounts.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5720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OCBC Steady  ·  PolyFinTech100 Hackathon 2026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832104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-1645920"/>
            <a:ext cx="4114800" cy="4114800"/>
          </a:xfrm>
          <a:prstGeom prst="ellipse">
            <a:avLst/>
          </a:prstGeom>
          <a:solidFill>
            <a:srgbClr val="E400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OCBC wins with Steady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502920" cy="502920"/>
          </a:xfrm>
          <a:prstGeom prst="ellipse">
            <a:avLst/>
          </a:prstGeom>
          <a:solidFill>
            <a:srgbClr val="E4002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679" y="1365199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19786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Deposits &amp; loyalty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200400" y="116128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dollar a gig worker earns routes through OCBC pockets — sticky CASA from a segment banks lose to GXS and fintechs.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2167128"/>
            <a:ext cx="502920" cy="502920"/>
          </a:xfrm>
          <a:prstGeom prst="ellipse">
            <a:avLst/>
          </a:prstGeom>
          <a:solidFill>
            <a:srgbClr val="E4002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" y="2297887"/>
            <a:ext cx="241402" cy="24140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213055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as moat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200400" y="2093976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Constitution, receipts and undo make 'humans in control' a product feature competitors must copy publicly, slowly.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02920" y="3099816"/>
            <a:ext cx="502920" cy="502920"/>
          </a:xfrm>
          <a:prstGeom prst="ellipse">
            <a:avLst/>
          </a:prstGeom>
          <a:solidFill>
            <a:srgbClr val="E4002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" y="3230575"/>
            <a:ext cx="241402" cy="24140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30632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fit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3200400" y="3026664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Extends the WoW AI-native stack from the top 1% to a 70,500-strong, regulation-driven segment. No SG bank serves it agentically.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02920" y="4114800"/>
            <a:ext cx="8138160" cy="0"/>
          </a:xfrm>
          <a:prstGeom prst="line">
            <a:avLst/>
          </a:prstGeom>
          <a:noFill/>
          <a:ln w="12700">
            <a:solidFill>
              <a:srgbClr val="3A414A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502920" y="427939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WoW changed the face of banking for those who have wealth. </a:t>
            </a:r>
            <a:pPr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Steady changes it for those still building it.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OCBC Steady</dc:title>
  <dc:subject>PptxGenJS Presentation</dc:subject>
  <dc:creator>Team Steady</dc:creator>
  <cp:lastModifiedBy>Team Steady</cp:lastModifiedBy>
  <cp:revision>1</cp:revision>
  <dcterms:created xsi:type="dcterms:W3CDTF">2026-07-06T09:05:56Z</dcterms:created>
  <dcterms:modified xsi:type="dcterms:W3CDTF">2026-07-06T09:05:56Z</dcterms:modified>
</cp:coreProperties>
</file>